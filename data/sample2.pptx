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</p:sldMasterIdLst>
  <p:notesMasterIdLst>
    <p:notesMasterId r:id="rId8"/>
  </p:notesMasterIdLst>
  <p:sldIdLst>
    <p:sldId id="256" r:id="rId9"/>
    <p:sldId id="257" r:id="rId1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0D87C98-C473-4447-B4EE-4AE70D4B60F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Hello!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I want to tell you about VonSim, an educational simulator for Assembly.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We created VonSim to teach Assembly at the Universidad Nacional de La Plata, where we have more than a thousand students per year.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Previously, we used a very old simulator called MSX88.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Noto Sans CJK SC"/>
              </a:rPr>
              <a:t>VonSim was born as a replacement of MSX88, providing a backwards compatible version of the simulator with modern IDE features.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Noto Sans CJK SC"/>
              </a:rPr>
              <a:t>VonSim is now 8 years old, and has had a very positive impact in the learning experience of students.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9480" y="3744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43DF414-D1DB-493A-BBFF-24902663DA9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B113FD-34E2-420D-AC51-5B8ECEEE65EA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9480" y="3744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E0E752-626A-4A69-8111-D9FB8E0BFC6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9480" y="3744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5509135-6A3F-4327-817A-B68F43AA9230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A61B8A4-4EBF-4FB7-9C47-AEE158FC4FAF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F3599D-73AD-40E5-A6E3-085DFF53E448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9480" y="6408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3"/>
                </a:solidFill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4BA19D-3A53-4B12-A1B0-3949A6D1B957}" type="slidenum">
              <a:rPr b="0" lang="en" sz="1000" spc="-1" strike="noStrike">
                <a:solidFill>
                  <a:schemeClr val="accent3"/>
                </a:solidFill>
                <a:latin typeface="Average"/>
                <a:ea typeface="Average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3"/>
                </a:solidFill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56721C-064D-43B1-88CB-E067681B9B3B}" type="slidenum">
              <a:rPr b="0" lang="en" sz="1000" spc="-1" strike="noStrike">
                <a:solidFill>
                  <a:schemeClr val="accent3"/>
                </a:solidFill>
                <a:latin typeface="Average"/>
                <a:ea typeface="Average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9480" y="6408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3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3"/>
                </a:solidFill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B119E6-591A-4CCC-920F-9E32BD3CEAE6}" type="slidenum">
              <a:rPr b="0" lang="en" sz="1000" spc="-1" strike="noStrike">
                <a:solidFill>
                  <a:schemeClr val="accent3"/>
                </a:solidFill>
                <a:latin typeface="Average"/>
                <a:ea typeface="Average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9480" y="6408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4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3"/>
                </a:solidFill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296787-31B6-47FB-9141-44EC06F9725F}" type="slidenum">
              <a:rPr b="0" lang="en" sz="1000" spc="-1" strike="noStrike">
                <a:solidFill>
                  <a:schemeClr val="accent3"/>
                </a:solidFill>
                <a:latin typeface="Average"/>
                <a:ea typeface="Average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Num" idx="5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A32A0A-A92C-4C37-8031-25C5BC2B6F45}" type="slidenum">
              <a:rPr b="0" lang="en" sz="1000" spc="-1" strike="noStrike">
                <a:solidFill>
                  <a:schemeClr val="lt1"/>
                </a:solidFill>
                <a:latin typeface="Average"/>
                <a:ea typeface="Average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27;p7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" name="Google Shape;28;p7"/>
          <p:cNvCxnSpPr/>
          <p:nvPr/>
        </p:nvCxnSpPr>
        <p:spPr>
          <a:xfrm>
            <a:off x="5029560" y="4495320"/>
            <a:ext cx="469080" cy="720"/>
          </a:xfrm>
          <a:prstGeom prst="straightConnector1">
            <a:avLst/>
          </a:prstGeom>
          <a:ln w="19050">
            <a:solidFill>
              <a:srgbClr val="1b272e"/>
            </a:solidFill>
            <a:round/>
          </a:ln>
        </p:spPr>
      </p:cxnSp>
      <p:sp>
        <p:nvSpPr>
          <p:cNvPr id="18" name="PlaceHolder 1"/>
          <p:cNvSpPr>
            <a:spLocks noGrp="1"/>
          </p:cNvSpPr>
          <p:nvPr>
            <p:ph type="sldNum" idx="6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FC1943-D0D1-40E0-AEED-5EC55AA9F6B2}" type="slidenum">
              <a:rPr b="0" lang="en" sz="1000" spc="-1" strike="noStrike">
                <a:solidFill>
                  <a:schemeClr val="lt1"/>
                </a:solidFill>
                <a:latin typeface="Average"/>
                <a:ea typeface="Average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37;p8" descr=""/>
          <p:cNvPicPr/>
          <p:nvPr/>
        </p:nvPicPr>
        <p:blipFill>
          <a:blip r:embed="rId1"/>
          <a:srcRect l="0" t="0" r="0" b="22914"/>
          <a:stretch/>
        </p:blipFill>
        <p:spPr>
          <a:xfrm>
            <a:off x="3927600" y="993600"/>
            <a:ext cx="4802400" cy="291888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36880" y="531000"/>
            <a:ext cx="3319200" cy="263628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92520" bIns="9252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pc="-1" strike="noStrike">
                <a:solidFill>
                  <a:srgbClr val="a6f784"/>
                </a:solidFill>
                <a:latin typeface="Economica"/>
                <a:ea typeface="Economica"/>
              </a:rPr>
              <a:t>VonSim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dk1"/>
                </a:solidFill>
                <a:latin typeface="Economica"/>
                <a:ea typeface="Economica"/>
              </a:rPr>
              <a:t>Educational Simulator for Assembly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Google Shape;39;p8"/>
          <p:cNvSpPr/>
          <p:nvPr/>
        </p:nvSpPr>
        <p:spPr>
          <a:xfrm>
            <a:off x="0" y="0"/>
            <a:ext cx="29991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6725880" y="4661640"/>
            <a:ext cx="2417760" cy="48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a6f784"/>
                </a:solidFill>
                <a:latin typeface="Economica"/>
                <a:ea typeface="Economica"/>
              </a:rPr>
              <a:t>https://vonsim.github.io/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" name="Google Shape;41;p8" descr=""/>
          <p:cNvPicPr/>
          <p:nvPr/>
        </p:nvPicPr>
        <p:blipFill>
          <a:blip r:embed="rId2"/>
          <a:srcRect l="0" t="0" r="70254" b="2287"/>
          <a:stretch/>
        </p:blipFill>
        <p:spPr>
          <a:xfrm>
            <a:off x="1620720" y="531000"/>
            <a:ext cx="463680" cy="593640"/>
          </a:xfrm>
          <a:prstGeom prst="rect">
            <a:avLst/>
          </a:prstGeom>
          <a:ln w="0">
            <a:noFill/>
          </a:ln>
        </p:spPr>
      </p:pic>
      <p:pic>
        <p:nvPicPr>
          <p:cNvPr id="30" name="Google Shape;42;p8" descr=""/>
          <p:cNvPicPr/>
          <p:nvPr/>
        </p:nvPicPr>
        <p:blipFill>
          <a:blip r:embed="rId3"/>
          <a:stretch/>
        </p:blipFill>
        <p:spPr>
          <a:xfrm>
            <a:off x="6613920" y="4788360"/>
            <a:ext cx="267840" cy="26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21240" y="11880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64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pc="-1" strike="noStrike">
                <a:solidFill>
                  <a:schemeClr val="dk1"/>
                </a:solidFill>
                <a:latin typeface="Economica"/>
                <a:ea typeface="Economica"/>
              </a:rPr>
              <a:t>Context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Google Shape;48;p9" descr=""/>
          <p:cNvPicPr/>
          <p:nvPr/>
        </p:nvPicPr>
        <p:blipFill>
          <a:blip r:embed="rId1"/>
          <a:srcRect l="0" t="0" r="67547" b="0"/>
          <a:stretch/>
        </p:blipFill>
        <p:spPr>
          <a:xfrm>
            <a:off x="2750760" y="1207440"/>
            <a:ext cx="590040" cy="572040"/>
          </a:xfrm>
          <a:prstGeom prst="rect">
            <a:avLst/>
          </a:prstGeom>
          <a:ln w="0">
            <a:noFill/>
          </a:ln>
        </p:spPr>
      </p:pic>
      <p:sp>
        <p:nvSpPr>
          <p:cNvPr id="33" name="Google Shape;49;p9"/>
          <p:cNvSpPr/>
          <p:nvPr/>
        </p:nvSpPr>
        <p:spPr>
          <a:xfrm>
            <a:off x="344880" y="1334520"/>
            <a:ext cx="400608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marL="457200" indent="-380880">
              <a:lnSpc>
                <a:spcPct val="100000"/>
              </a:lnSpc>
              <a:buClr>
                <a:srgbClr val="ffffff"/>
              </a:buClr>
              <a:buFont typeface="Economica"/>
              <a:buChar char="●"/>
            </a:pPr>
            <a:r>
              <a:rPr b="0" lang="en" sz="2400" spc="-1" strike="noStrike">
                <a:solidFill>
                  <a:schemeClr val="dk1"/>
                </a:solidFill>
                <a:latin typeface="Economica"/>
                <a:ea typeface="Economica"/>
              </a:rPr>
              <a:t>Informatics School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80880">
              <a:lnSpc>
                <a:spcPct val="100000"/>
              </a:lnSpc>
              <a:buClr>
                <a:srgbClr val="ffffff"/>
              </a:buClr>
              <a:buFont typeface="Economica"/>
              <a:buChar char="○"/>
            </a:pPr>
            <a:r>
              <a:rPr b="0" lang="en" sz="2400" spc="-1" strike="noStrike">
                <a:solidFill>
                  <a:schemeClr val="dk1"/>
                </a:solidFill>
                <a:latin typeface="Economica"/>
                <a:ea typeface="Economica"/>
              </a:rPr>
              <a:t>Universidad Nacional de La Plata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ffffff"/>
              </a:buClr>
              <a:buFont typeface="Economica"/>
              <a:buChar char="●"/>
            </a:pPr>
            <a:r>
              <a:rPr b="0" lang="en" sz="2400" spc="-1" strike="noStrike">
                <a:solidFill>
                  <a:schemeClr val="dk1"/>
                </a:solidFill>
                <a:latin typeface="Economica"/>
                <a:ea typeface="Economica"/>
              </a:rPr>
              <a:t>Courses that teach Assembly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80880">
              <a:lnSpc>
                <a:spcPct val="100000"/>
              </a:lnSpc>
              <a:buClr>
                <a:srgbClr val="ffffff"/>
              </a:buClr>
              <a:buFont typeface="Economica"/>
              <a:buChar char="○"/>
            </a:pPr>
            <a:r>
              <a:rPr b="0" lang="en" sz="2400" spc="-1" strike="noStrike">
                <a:solidFill>
                  <a:schemeClr val="dk1"/>
                </a:solidFill>
                <a:latin typeface="Economica"/>
                <a:ea typeface="Economica"/>
              </a:rPr>
              <a:t>Computer Organization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80880">
              <a:lnSpc>
                <a:spcPct val="100000"/>
              </a:lnSpc>
              <a:buClr>
                <a:srgbClr val="ffffff"/>
              </a:buClr>
              <a:buFont typeface="Economica"/>
              <a:buChar char="○"/>
            </a:pPr>
            <a:r>
              <a:rPr b="0" lang="en" sz="2400" spc="-1" strike="noStrike">
                <a:solidFill>
                  <a:schemeClr val="dk1"/>
                </a:solidFill>
                <a:latin typeface="Economica"/>
                <a:ea typeface="Economica"/>
              </a:rPr>
              <a:t>Computer Architecture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ffffff"/>
              </a:buClr>
              <a:buFont typeface="Economica"/>
              <a:buChar char="●"/>
            </a:pPr>
            <a:r>
              <a:rPr b="0" lang="en" sz="2400" spc="-1" strike="noStrike">
                <a:solidFill>
                  <a:schemeClr val="dk1"/>
                </a:solidFill>
                <a:latin typeface="Economica"/>
                <a:ea typeface="Economica"/>
              </a:rPr>
              <a:t>~1500 students per year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ffffff"/>
              </a:buClr>
              <a:buFont typeface="Economica"/>
              <a:buChar char="●"/>
            </a:pPr>
            <a:r>
              <a:rPr b="0" lang="en" sz="2400" spc="-1" strike="noStrike">
                <a:solidFill>
                  <a:schemeClr val="dk1"/>
                </a:solidFill>
                <a:latin typeface="Economica"/>
                <a:ea typeface="Economica"/>
              </a:rPr>
              <a:t>Previously: </a:t>
            </a:r>
            <a:r>
              <a:rPr b="1" lang="en" sz="2400" spc="-1" strike="noStrike">
                <a:solidFill>
                  <a:schemeClr val="dk1"/>
                </a:solidFill>
                <a:latin typeface="Economica"/>
                <a:ea typeface="Economica"/>
              </a:rPr>
              <a:t>MSX88 </a:t>
            </a:r>
            <a:r>
              <a:rPr b="0" lang="en" sz="2400" spc="-1" strike="noStrike">
                <a:solidFill>
                  <a:schemeClr val="dk1"/>
                </a:solidFill>
                <a:latin typeface="Economica"/>
                <a:ea typeface="Economica"/>
              </a:rPr>
              <a:t>simulator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80880">
              <a:lnSpc>
                <a:spcPct val="100000"/>
              </a:lnSpc>
              <a:buClr>
                <a:srgbClr val="ffffff"/>
              </a:buClr>
              <a:buFont typeface="Economica"/>
              <a:buChar char="○"/>
            </a:pPr>
            <a:r>
              <a:rPr b="0" lang="en" sz="2400" spc="-1" strike="noStrike">
                <a:solidFill>
                  <a:schemeClr val="dk1"/>
                </a:solidFill>
                <a:latin typeface="Economica"/>
                <a:ea typeface="Economica"/>
              </a:rPr>
              <a:t>VonSim 1: 2017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80880">
              <a:lnSpc>
                <a:spcPct val="100000"/>
              </a:lnSpc>
              <a:buClr>
                <a:srgbClr val="ffffff"/>
              </a:buClr>
              <a:buFont typeface="Economica"/>
              <a:buChar char="○"/>
            </a:pPr>
            <a:r>
              <a:rPr b="0" lang="en" sz="2400" spc="-1" strike="noStrike">
                <a:solidFill>
                  <a:schemeClr val="dk1"/>
                </a:solidFill>
                <a:latin typeface="Economica"/>
                <a:ea typeface="Economica"/>
              </a:rPr>
              <a:t>VonSim 2: 2023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4" name="Google Shape;50;p9"/>
          <p:cNvGrpSpPr/>
          <p:nvPr/>
        </p:nvGrpSpPr>
        <p:grpSpPr>
          <a:xfrm>
            <a:off x="4467600" y="919440"/>
            <a:ext cx="4592520" cy="3444120"/>
            <a:chOff x="4467600" y="919440"/>
            <a:chExt cx="4592520" cy="3444120"/>
          </a:xfrm>
        </p:grpSpPr>
        <p:pic>
          <p:nvPicPr>
            <p:cNvPr id="35" name="Google Shape;51;p9" descr=""/>
            <p:cNvPicPr/>
            <p:nvPr/>
          </p:nvPicPr>
          <p:blipFill>
            <a:blip r:embed="rId2"/>
            <a:stretch/>
          </p:blipFill>
          <p:spPr>
            <a:xfrm>
              <a:off x="4467600" y="919440"/>
              <a:ext cx="4592520" cy="3444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6" name="Google Shape;52;p9"/>
            <p:cNvSpPr/>
            <p:nvPr/>
          </p:nvSpPr>
          <p:spPr>
            <a:xfrm>
              <a:off x="6254640" y="2950560"/>
              <a:ext cx="1411200" cy="5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2400" spc="-1" strike="noStrike">
                  <a:solidFill>
                    <a:schemeClr val="dk1"/>
                  </a:solidFill>
                  <a:latin typeface="Economica"/>
                  <a:ea typeface="Economica"/>
                </a:rPr>
                <a:t>MSX88</a:t>
              </a:r>
              <a:endParaRPr b="0" lang="en-U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37" name="Google Shape;53;p9" descr=""/>
          <p:cNvPicPr/>
          <p:nvPr/>
        </p:nvPicPr>
        <p:blipFill>
          <a:blip r:embed="rId3"/>
          <a:stretch/>
        </p:blipFill>
        <p:spPr>
          <a:xfrm>
            <a:off x="65880" y="64080"/>
            <a:ext cx="855000" cy="855000"/>
          </a:xfrm>
          <a:prstGeom prst="rect">
            <a:avLst/>
          </a:prstGeom>
          <a:ln w="0">
            <a:noFill/>
          </a:ln>
        </p:spPr>
      </p:pic>
      <p:pic>
        <p:nvPicPr>
          <p:cNvPr id="38" name="Google Shape;54;p9" descr=""/>
          <p:cNvPicPr/>
          <p:nvPr/>
        </p:nvPicPr>
        <p:blipFill>
          <a:blip r:embed="rId4"/>
          <a:stretch/>
        </p:blipFill>
        <p:spPr>
          <a:xfrm>
            <a:off x="3461760" y="1207440"/>
            <a:ext cx="476640" cy="57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late Economica Gib">
  <a:themeElements>
    <a:clrScheme name="Slate">
      <a:dk1>
        <a:srgbClr val="ffffff"/>
      </a:dk1>
      <a:lt1>
        <a:srgbClr val="1b272e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e9bd3a"/>
      </a:hlink>
      <a:folHlink>
        <a:srgbClr val="ffd966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 Economica Gib">
  <a:themeElements>
    <a:clrScheme name="Slate">
      <a:dk1>
        <a:srgbClr val="ffffff"/>
      </a:dk1>
      <a:lt1>
        <a:srgbClr val="1b272e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e9bd3a"/>
      </a:hlink>
      <a:folHlink>
        <a:srgbClr val="ffd966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ate Economica Gib">
  <a:themeElements>
    <a:clrScheme name="Slate">
      <a:dk1>
        <a:srgbClr val="ffffff"/>
      </a:dk1>
      <a:lt1>
        <a:srgbClr val="1b272e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e9bd3a"/>
      </a:hlink>
      <a:folHlink>
        <a:srgbClr val="ffd966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late Economica Gib">
  <a:themeElements>
    <a:clrScheme name="Slate">
      <a:dk1>
        <a:srgbClr val="ffffff"/>
      </a:dk1>
      <a:lt1>
        <a:srgbClr val="1b272e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e9bd3a"/>
      </a:hlink>
      <a:folHlink>
        <a:srgbClr val="ffd966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late Economica Gib">
  <a:themeElements>
    <a:clrScheme name="Slate">
      <a:dk1>
        <a:srgbClr val="ffffff"/>
      </a:dk1>
      <a:lt1>
        <a:srgbClr val="1b272e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e9bd3a"/>
      </a:hlink>
      <a:folHlink>
        <a:srgbClr val="ffd966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late Economica Gib">
  <a:themeElements>
    <a:clrScheme name="Slate">
      <a:dk1>
        <a:srgbClr val="ffffff"/>
      </a:dk1>
      <a:lt1>
        <a:srgbClr val="1b272e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e9bd3a"/>
      </a:hlink>
      <a:folHlink>
        <a:srgbClr val="ffd966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2025-11-04T12:29:27Z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