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</p:sldMasterIdLst>
  <p:notesMasterIdLst>
    <p:notesMasterId r:id="rId8"/>
  </p:notesMasterIdLst>
  <p:sldIdLst>
    <p:sldId id="256" r:id="rId9"/>
    <p:sldId id="257" r:id="rId1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7B9A22D-BE46-458E-BA75-16CEF674100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</a:rPr>
              <a:t>Hello!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</a:rPr>
              <a:t>I want to tell you about VonSim, an educational simulator for learning Assembly.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</a:rPr>
              <a:t>We created VonSim to teach Assembly at the Universidad Nacional de La Plata, where we have more than a thousand students per year.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</a:rPr>
              <a:t>Previously, we used a very old simulator called MSX88.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Noto Sans CJK SC"/>
              </a:rPr>
              <a:t>VonSim was born as a replacement of MSX88, providing a backwards compatible version of the simulator with modern IDE features.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</a:rPr>
              <a:t>VonSim is now 8 years old, and has had a very positive impact in the learning experience of our students.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9480" y="640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903D14A-374F-468C-94BC-EF8EC7C43AB1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060E9D-5594-4F7D-8F61-B126EB792BD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59480" y="640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80CCD7-3F90-4D7C-B55D-FC23F5D8EF1A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9480" y="640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26A92CE-C030-4225-B2DC-CE33716B583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A77C822-10E1-4A07-9ACC-95BA6E7898DA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266D3C-8AB5-444C-A708-8627E982A2B3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71400" y="990720"/>
            <a:ext cx="7801200" cy="17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accent3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D6E3E2-CFBC-4461-B368-4716335F4B7D}" type="slidenum">
              <a:rPr b="0" lang="en" sz="1000" spc="-1" strike="noStrike">
                <a:solidFill>
                  <a:schemeClr val="accent3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71400" y="2141280"/>
            <a:ext cx="7851960" cy="86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accent3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73BABB-9066-46F4-BDA3-C681E811DB57}" type="slidenum">
              <a:rPr b="0" lang="en" sz="1000" spc="-1" strike="noStrike">
                <a:solidFill>
                  <a:schemeClr val="accent3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9480" y="640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65255"/>
          </a:bodyPr>
          <a:p>
            <a:pPr indent="0"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3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accent3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AD2966-10D9-4928-BEC7-84BAA82D0B2B}" type="slidenum">
              <a:rPr b="0" lang="en" sz="1000" spc="-1" strike="noStrike">
                <a:solidFill>
                  <a:schemeClr val="accent3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9480" y="640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65255"/>
          </a:bodyPr>
          <a:p>
            <a:pPr indent="0"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4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accent3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BBEBAA-83EA-4B8C-ACF1-3F5301874EED}" type="slidenum">
              <a:rPr b="0" lang="en" sz="1000" spc="-1" strike="noStrike">
                <a:solidFill>
                  <a:schemeClr val="accent3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90320" y="526320"/>
            <a:ext cx="62269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5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lt1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79EDFA-69E9-4EA3-8D8F-47E2A37DFAE4}" type="slidenum">
              <a:rPr b="0" lang="en" sz="1000" spc="-1" strike="noStrike">
                <a:solidFill>
                  <a:schemeClr val="lt1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27;p7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" name="Google Shape;28;p7"/>
          <p:cNvCxnSpPr/>
          <p:nvPr/>
        </p:nvCxnSpPr>
        <p:spPr>
          <a:xfrm>
            <a:off x="5029560" y="4495320"/>
            <a:ext cx="468720" cy="360"/>
          </a:xfrm>
          <a:prstGeom prst="straightConnector1">
            <a:avLst/>
          </a:prstGeom>
          <a:ln w="19050">
            <a:solidFill>
              <a:srgbClr val="1b272e"/>
            </a:solidFill>
            <a:round/>
          </a:ln>
        </p:spPr>
      </p:cxn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65680" y="1081440"/>
            <a:ext cx="4044960" cy="171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939560" y="72432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68306" lnSpcReduction="1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6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lt1"/>
                </a:solidFill>
                <a:latin typeface="Average"/>
                <a:ea typeface="Average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86ECDE-F6DD-444E-8678-DAFE07F36E46}" type="slidenum">
              <a:rPr b="0" lang="en" sz="1000" spc="-1" strike="noStrike">
                <a:solidFill>
                  <a:schemeClr val="lt1"/>
                </a:solidFill>
                <a:latin typeface="Average"/>
                <a:ea typeface="Average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37;p8" descr=""/>
          <p:cNvPicPr/>
          <p:nvPr/>
        </p:nvPicPr>
        <p:blipFill>
          <a:blip r:embed="rId1"/>
          <a:srcRect l="0" t="0" r="0" b="22914"/>
          <a:stretch/>
        </p:blipFill>
        <p:spPr>
          <a:xfrm>
            <a:off x="3927600" y="993600"/>
            <a:ext cx="4802760" cy="291924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236880" y="531000"/>
            <a:ext cx="3319560" cy="2636640"/>
          </a:xfrm>
          <a:prstGeom prst="rect">
            <a:avLst/>
          </a:prstGeom>
          <a:noFill/>
          <a:ln w="0">
            <a:noFill/>
          </a:ln>
        </p:spPr>
        <p:txBody>
          <a:bodyPr lIns="92520" rIns="92520" tIns="92520" bIns="9252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6000" spc="-1" strike="noStrike">
                <a:solidFill>
                  <a:srgbClr val="a6f784"/>
                </a:solidFill>
                <a:latin typeface="Economica"/>
                <a:ea typeface="Economica"/>
              </a:rPr>
              <a:t>VonSim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600" spc="-1" strike="noStrike">
                <a:solidFill>
                  <a:schemeClr val="dk1"/>
                </a:solidFill>
                <a:latin typeface="Economica"/>
                <a:ea typeface="Economica"/>
              </a:rPr>
              <a:t>Educational Simulator for Assembly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Google Shape;39;p8"/>
          <p:cNvSpPr/>
          <p:nvPr/>
        </p:nvSpPr>
        <p:spPr>
          <a:xfrm>
            <a:off x="0" y="0"/>
            <a:ext cx="29995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title"/>
          </p:nvPr>
        </p:nvSpPr>
        <p:spPr>
          <a:xfrm>
            <a:off x="6725880" y="4661640"/>
            <a:ext cx="2418120" cy="48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pc="-1" strike="noStrike">
                <a:solidFill>
                  <a:srgbClr val="a6f784"/>
                </a:solidFill>
                <a:latin typeface="Economica"/>
                <a:ea typeface="Economica"/>
              </a:rPr>
              <a:t>https://vonsim.github.io/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" name="Google Shape;41;p8" descr=""/>
          <p:cNvPicPr/>
          <p:nvPr/>
        </p:nvPicPr>
        <p:blipFill>
          <a:blip r:embed="rId2"/>
          <a:srcRect l="0" t="0" r="70254" b="2287"/>
          <a:stretch/>
        </p:blipFill>
        <p:spPr>
          <a:xfrm>
            <a:off x="1620720" y="531000"/>
            <a:ext cx="464040" cy="594000"/>
          </a:xfrm>
          <a:prstGeom prst="rect">
            <a:avLst/>
          </a:prstGeom>
          <a:ln w="0">
            <a:noFill/>
          </a:ln>
        </p:spPr>
      </p:pic>
      <p:pic>
        <p:nvPicPr>
          <p:cNvPr id="34" name="Google Shape;42;p8" descr=""/>
          <p:cNvPicPr/>
          <p:nvPr/>
        </p:nvPicPr>
        <p:blipFill>
          <a:blip r:embed="rId3"/>
          <a:stretch/>
        </p:blipFill>
        <p:spPr>
          <a:xfrm>
            <a:off x="6613920" y="4788360"/>
            <a:ext cx="268200" cy="26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921240" y="11880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65255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chemeClr val="dk1"/>
                </a:solidFill>
                <a:latin typeface="Economica"/>
                <a:ea typeface="Economica"/>
              </a:rPr>
              <a:t>Context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Google Shape;48;p9" descr=""/>
          <p:cNvPicPr/>
          <p:nvPr/>
        </p:nvPicPr>
        <p:blipFill>
          <a:blip r:embed="rId1"/>
          <a:srcRect l="0" t="0" r="67555" b="0"/>
          <a:stretch/>
        </p:blipFill>
        <p:spPr>
          <a:xfrm>
            <a:off x="2750760" y="1207440"/>
            <a:ext cx="590400" cy="572400"/>
          </a:xfrm>
          <a:prstGeom prst="rect">
            <a:avLst/>
          </a:prstGeom>
          <a:ln w="0">
            <a:noFill/>
          </a:ln>
        </p:spPr>
      </p:pic>
      <p:sp>
        <p:nvSpPr>
          <p:cNvPr id="37" name="Google Shape;49;p9"/>
          <p:cNvSpPr/>
          <p:nvPr/>
        </p:nvSpPr>
        <p:spPr>
          <a:xfrm>
            <a:off x="344880" y="1334520"/>
            <a:ext cx="40064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marL="4572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●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Informatics School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9144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○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Universidad Nacional de La Plata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●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Courses that teach Assembly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9144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○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Computer Organization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9144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○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Computer Architecture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●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~1500 students per year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●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Previously: </a:t>
            </a:r>
            <a:r>
              <a:rPr b="1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MSX88 </a:t>
            </a: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simulator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9144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○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VonSim 1: 2017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914400" indent="-380880">
              <a:lnSpc>
                <a:spcPct val="100000"/>
              </a:lnSpc>
              <a:buClr>
                <a:srgbClr val="ffffff"/>
              </a:buClr>
              <a:buFont typeface="Economica"/>
              <a:buChar char="○"/>
            </a:pPr>
            <a:r>
              <a:rPr b="0" lang="en" sz="2400" spc="-1" strike="noStrike">
                <a:solidFill>
                  <a:schemeClr val="dk1"/>
                </a:solidFill>
                <a:latin typeface="Economica"/>
                <a:ea typeface="Economica"/>
              </a:rPr>
              <a:t>VonSim 2: 2023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8" name="Google Shape;50;p9"/>
          <p:cNvGrpSpPr/>
          <p:nvPr/>
        </p:nvGrpSpPr>
        <p:grpSpPr>
          <a:xfrm>
            <a:off x="4467600" y="919440"/>
            <a:ext cx="4592880" cy="3444480"/>
            <a:chOff x="4467600" y="919440"/>
            <a:chExt cx="4592880" cy="3444480"/>
          </a:xfrm>
        </p:grpSpPr>
        <p:pic>
          <p:nvPicPr>
            <p:cNvPr id="39" name="Google Shape;51;p9" descr=""/>
            <p:cNvPicPr/>
            <p:nvPr/>
          </p:nvPicPr>
          <p:blipFill>
            <a:blip r:embed="rId2"/>
            <a:stretch/>
          </p:blipFill>
          <p:spPr>
            <a:xfrm>
              <a:off x="4467600" y="919440"/>
              <a:ext cx="4592880" cy="3444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0" name="Google Shape;52;p9"/>
            <p:cNvSpPr/>
            <p:nvPr/>
          </p:nvSpPr>
          <p:spPr>
            <a:xfrm>
              <a:off x="6254640" y="2950560"/>
              <a:ext cx="141156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t">
              <a:sp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b="1" lang="en" sz="2400" spc="-1" strike="noStrike">
                  <a:solidFill>
                    <a:schemeClr val="dk1"/>
                  </a:solidFill>
                  <a:latin typeface="Economica"/>
                  <a:ea typeface="Economica"/>
                </a:rPr>
                <a:t>MSX88</a:t>
              </a:r>
              <a:endParaRPr b="0" lang="en-US" sz="2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pic>
        <p:nvPicPr>
          <p:cNvPr id="41" name="Google Shape;53;p9" descr=""/>
          <p:cNvPicPr/>
          <p:nvPr/>
        </p:nvPicPr>
        <p:blipFill>
          <a:blip r:embed="rId3"/>
          <a:stretch/>
        </p:blipFill>
        <p:spPr>
          <a:xfrm>
            <a:off x="65880" y="64080"/>
            <a:ext cx="855360" cy="855360"/>
          </a:xfrm>
          <a:prstGeom prst="rect">
            <a:avLst/>
          </a:prstGeom>
          <a:ln w="0">
            <a:noFill/>
          </a:ln>
        </p:spPr>
      </p:pic>
      <p:pic>
        <p:nvPicPr>
          <p:cNvPr id="42" name="Google Shape;54;p9" descr=""/>
          <p:cNvPicPr/>
          <p:nvPr/>
        </p:nvPicPr>
        <p:blipFill>
          <a:blip r:embed="rId4"/>
          <a:stretch/>
        </p:blipFill>
        <p:spPr>
          <a:xfrm>
            <a:off x="3461760" y="1207440"/>
            <a:ext cx="477000" cy="572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late Economica Gib">
  <a:themeElements>
    <a:clrScheme name="Slate">
      <a:dk1>
        <a:srgbClr val="ffffff"/>
      </a:dk1>
      <a:lt1>
        <a:srgbClr val="1b272e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e9bd3a"/>
      </a:hlink>
      <a:folHlink>
        <a:srgbClr val="ffd966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2025-11-03T10:46:56Z</dcterms:modified>
  <cp:revision>2</cp:revision>
  <dc:subject/>
  <dc:title/>
</cp:coreProperties>
</file>